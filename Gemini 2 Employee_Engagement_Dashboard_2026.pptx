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0" y="-1645920"/>
            <a:ext cx="5029200" cy="5029200"/>
          </a:xfrm>
          <a:prstGeom prst="ellipse">
            <a:avLst/>
          </a:prstGeom>
          <a:solidFill>
            <a:srgbClr val="1A1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2286000"/>
            <a:ext cx="3474720" cy="3474720"/>
          </a:xfrm>
          <a:prstGeom prst="ellipse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0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57200"/>
            <a:ext cx="1828800" cy="347472"/>
          </a:xfrm>
          <a:prstGeom prst="rect">
            <a:avLst/>
          </a:prstGeom>
          <a:solidFill>
            <a:srgbClr val="251E55"/>
          </a:solidFill>
          <a:ln w="10160">
            <a:solidFill>
              <a:srgbClr val="5B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1828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0A8EE"/>
                </a:solidFill>
                <a:latin typeface="Calibri"/>
              </a:rPr>
              <a:t>HR Analytics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7772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A0A0CC"/>
                </a:solidFill>
                <a:latin typeface="Calibri"/>
              </a:rPr>
              <a:t>รายงานผลสำรวจ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7772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Calibri"/>
              </a:rPr>
              <a:t>Employee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04288"/>
            <a:ext cx="7772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Calibri"/>
              </a:rPr>
              <a:t>Engagement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22D3EE"/>
                </a:solidFill>
                <a:latin typeface="Calibri"/>
              </a:rPr>
              <a:t>Survey</a:t>
            </a:r>
          </a:p>
        </p:txBody>
      </p:sp>
      <p:sp>
        <p:nvSpPr>
          <p:cNvPr id="12" name="Block Arc 11"/>
          <p:cNvSpPr/>
          <p:nvPr/>
        </p:nvSpPr>
        <p:spPr>
          <a:xfrm>
            <a:off x="548640" y="4005072"/>
            <a:ext cx="4754880" cy="914"/>
          </a:xfrm>
          <a:prstGeom prst="blockArc">
            <a:avLst/>
          </a:prstGeom>
          <a:noFill/>
          <a:ln w="12700">
            <a:solidFill>
              <a:srgbClr val="2E2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33087"/>
            <a:ext cx="7772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090C8"/>
                </a:solidFill>
                <a:latin typeface="Calibri"/>
              </a:rPr>
              <a:t>บริษัท ดูดี อินดีด คอร์ปอเรชั่น จำกัด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26280"/>
            <a:ext cx="7772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98"/>
                </a:solidFill>
                <a:latin typeface="Calibri"/>
              </a:rPr>
              <a:t>มีนาคม 2026  ·  10 คน  ·  35 คำถาม  ·  7 มิติ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8E8F8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AA"/>
                </a:solidFill>
                <a:latin typeface="Calibri"/>
              </a:rPr>
              <a:t>ภาพรวมผลการสำรวจ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F0F0F8"/>
          </a:solidFill>
          <a:ln w="3810">
            <a:solidFill>
              <a:srgbClr val="E0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28616"/>
            <a:ext cx="8229600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CC"/>
                </a:solidFill>
                <a:latin typeface="Calibri"/>
              </a:rPr>
              <a:t>Employee Engagement Survey 2026  ·  บริษัท ดูดี อินดีด คอร์ปอเรชั่น จำกัด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928616"/>
            <a:ext cx="502920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AAACC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685800"/>
            <a:ext cx="3749039" cy="4114800"/>
          </a:xfrm>
          <a:prstGeom prst="rect">
            <a:avLst/>
          </a:prstGeom>
          <a:solidFill>
            <a:srgbClr val="0D1117"/>
          </a:solidFill>
          <a:ln w="10160">
            <a:solidFill>
              <a:srgbClr val="2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685800"/>
            <a:ext cx="3749039" cy="64008"/>
          </a:xfrm>
          <a:prstGeom prst="rect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758952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777AA"/>
                </a:solidFill>
                <a:latin typeface="Calibri"/>
              </a:rPr>
              <a:t>Overall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143000"/>
            <a:ext cx="32004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00" b="1" i="0">
                <a:solidFill>
                  <a:srgbClr val="7C6FEF"/>
                </a:solidFill>
                <a:latin typeface="Calibri"/>
              </a:rPr>
              <a:t>82.3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325880"/>
            <a:ext cx="685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A0A0CC"/>
                </a:solidFill>
                <a:latin typeface="Calibri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423160"/>
            <a:ext cx="374903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777BB"/>
                </a:solidFill>
                <a:latin typeface="Calibri"/>
              </a:rPr>
              <a:t>คะแนนเฉลี่ย  4.11 / 5.00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2852928"/>
            <a:ext cx="2011680" cy="365760"/>
          </a:xfrm>
          <a:prstGeom prst="rect">
            <a:avLst/>
          </a:prstGeom>
          <a:solidFill>
            <a:srgbClr val="0A3020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852928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C55E"/>
                </a:solidFill>
                <a:latin typeface="Calibri"/>
              </a:rPr>
              <a:t>✅  Engaged</a:t>
            </a:r>
          </a:p>
        </p:txBody>
      </p:sp>
      <p:sp>
        <p:nvSpPr>
          <p:cNvPr id="17" name="Block Arc 16"/>
          <p:cNvSpPr/>
          <p:nvPr/>
        </p:nvSpPr>
        <p:spPr>
          <a:xfrm>
            <a:off x="548640" y="3355848"/>
            <a:ext cx="3200399" cy="914"/>
          </a:xfrm>
          <a:prstGeom prst="blockArc">
            <a:avLst/>
          </a:prstGeom>
          <a:noFill/>
          <a:ln w="5080">
            <a:solidFill>
              <a:srgbClr val="222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56432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AA"/>
                </a:solidFill>
                <a:latin typeface="Calibri"/>
              </a:rPr>
              <a:t>ผู้ตอบทั้งหมด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456432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090CC"/>
                </a:solidFill>
                <a:latin typeface="Calibri"/>
              </a:rPr>
              <a:t>10 คน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49039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AA"/>
                </a:solidFill>
                <a:latin typeface="Calibri"/>
              </a:rPr>
              <a:t>จำนวนคำถาม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749039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090CC"/>
                </a:solidFill>
                <a:latin typeface="Calibri"/>
              </a:rPr>
              <a:t>35 ข้อ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041648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AA"/>
                </a:solidFill>
                <a:latin typeface="Calibri"/>
              </a:rPr>
              <a:t>เป้าหมาย ≥ 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041648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090CC"/>
                </a:solidFill>
                <a:latin typeface="Calibri"/>
              </a:rPr>
              <a:t>✅ ผ่าน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498848"/>
            <a:ext cx="374903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2C55E"/>
                </a:solidFill>
                <a:latin typeface="Calibri"/>
              </a:rPr>
              <a:t>📈 เกินเป้าหมาย +2.3%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685800"/>
            <a:ext cx="2194560" cy="1938528"/>
          </a:xfrm>
          <a:prstGeom prst="rect">
            <a:avLst/>
          </a:prstGeom>
          <a:solidFill>
            <a:srgbClr val="FFFFFF"/>
          </a:solidFill>
          <a:ln w="762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685800"/>
            <a:ext cx="219456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777240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E1E3A"/>
                </a:solidFill>
                <a:latin typeface="Calibri"/>
              </a:rPr>
              <a:t>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1197864"/>
            <a:ext cx="201168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AA"/>
                </a:solidFill>
                <a:latin typeface="Calibri"/>
              </a:rPr>
              <a:t>มิติที่ดีที่สุด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1490472"/>
            <a:ext cx="2011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D3EE"/>
                </a:solidFill>
                <a:latin typeface="Calibri"/>
              </a:rPr>
              <a:t>88.4%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2011680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AA"/>
                </a:solidFill>
                <a:latin typeface="Calibri"/>
              </a:rPr>
              <a:t>ลักษณะงานและบทบาท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685800"/>
            <a:ext cx="2194560" cy="1938528"/>
          </a:xfrm>
          <a:prstGeom prst="rect">
            <a:avLst/>
          </a:prstGeom>
          <a:solidFill>
            <a:srgbClr val="FFFFFF"/>
          </a:solidFill>
          <a:ln w="762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5120" y="685800"/>
            <a:ext cx="21945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777240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E1E3A"/>
                </a:solidFill>
                <a:latin typeface="Calibri"/>
              </a:rPr>
              <a:t>⚠️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1197864"/>
            <a:ext cx="201168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AA"/>
                </a:solidFill>
                <a:latin typeface="Calibri"/>
              </a:rPr>
              <a:t>ต้องพัฒนาเร่งด่วน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1490472"/>
            <a:ext cx="2011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9E0B"/>
                </a:solidFill>
                <a:latin typeface="Calibri"/>
              </a:rPr>
              <a:t>75.5%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2011680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AA"/>
                </a:solidFill>
                <a:latin typeface="Calibri"/>
              </a:rPr>
              <a:t>การสื่อสาร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2788920"/>
            <a:ext cx="2194560" cy="1938528"/>
          </a:xfrm>
          <a:prstGeom prst="rect">
            <a:avLst/>
          </a:prstGeom>
          <a:solidFill>
            <a:srgbClr val="FFFFFF"/>
          </a:solidFill>
          <a:ln w="762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51960" y="2788920"/>
            <a:ext cx="219456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2880360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E1E3A"/>
                </a:solidFill>
                <a:latin typeface="Calibri"/>
              </a:rPr>
              <a:t>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3300984"/>
            <a:ext cx="201168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AA"/>
                </a:solidFill>
                <a:latin typeface="Calibri"/>
              </a:rPr>
              <a:t>คำถามสูงสุด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400" y="3593591"/>
            <a:ext cx="2011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A78BFA"/>
                </a:solidFill>
                <a:latin typeface="Calibri"/>
              </a:rPr>
              <a:t>4.7/5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4114800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AA"/>
                </a:solidFill>
                <a:latin typeface="Calibri"/>
              </a:rPr>
              <a:t>ใช้ความสามารถเต็มที่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2788920"/>
            <a:ext cx="2194560" cy="1938528"/>
          </a:xfrm>
          <a:prstGeom prst="rect">
            <a:avLst/>
          </a:prstGeom>
          <a:solidFill>
            <a:srgbClr val="FFFFFF"/>
          </a:solidFill>
          <a:ln w="762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75120" y="2788920"/>
            <a:ext cx="2194560" cy="6400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2880360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E1E3A"/>
                </a:solidFill>
                <a:latin typeface="Calibri"/>
              </a:rPr>
              <a:t>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3300984"/>
            <a:ext cx="201168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AA"/>
                </a:solidFill>
                <a:latin typeface="Calibri"/>
              </a:rPr>
              <a:t>คำถามต่ำสุด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3593591"/>
            <a:ext cx="2011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72B6"/>
                </a:solidFill>
                <a:latin typeface="Calibri"/>
              </a:rPr>
              <a:t>3.5/5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4114800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AA"/>
                </a:solidFill>
                <a:latin typeface="Calibri"/>
              </a:rPr>
              <a:t>ประเมินผลยุติธรรม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8E8F8"/>
                </a:solidFill>
                <a:latin typeface="Calibri"/>
              </a:rPr>
              <a:t>ผลคะแนนทั้ง 7 มิติ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AA"/>
                </a:solidFill>
                <a:latin typeface="Calibri"/>
              </a:rPr>
              <a:t>Dimension Scores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F0F0F8"/>
          </a:solidFill>
          <a:ln w="3810">
            <a:solidFill>
              <a:srgbClr val="E0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28616"/>
            <a:ext cx="8229600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CC"/>
                </a:solidFill>
                <a:latin typeface="Calibri"/>
              </a:rPr>
              <a:t>Employee Engagement Survey 2026  ·  บริษัท ดูดี อินดีด คอร์ปอเรชั่น จำกัด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928616"/>
            <a:ext cx="502920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AAACC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621792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AA"/>
                </a:solidFill>
                <a:latin typeface="Calibri"/>
              </a:rPr>
              <a:t>คะแนน 1–5 (แสดงเป็น 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713232"/>
            <a:ext cx="8732520" cy="475488"/>
          </a:xfrm>
          <a:prstGeom prst="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8600" y="804672"/>
            <a:ext cx="320040" cy="3200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80467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768096"/>
            <a:ext cx="2057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3A"/>
                </a:solidFill>
                <a:latin typeface="Calibri"/>
              </a:rPr>
              <a:t>ลักษณะงานและบทบาท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850392"/>
            <a:ext cx="5166360" cy="237744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850392"/>
            <a:ext cx="4567062" cy="23774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0846" y="777240"/>
            <a:ext cx="685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88.4%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777240"/>
            <a:ext cx="6217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AA"/>
                </a:solidFill>
                <a:latin typeface="Calibri"/>
              </a:rPr>
              <a:t>4.42/5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" y="1316736"/>
            <a:ext cx="320040" cy="3200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1316736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280160"/>
            <a:ext cx="2057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3A"/>
                </a:solidFill>
                <a:latin typeface="Calibri"/>
              </a:rPr>
              <a:t>ภาวะผู้นำ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1362456"/>
            <a:ext cx="5166360" cy="237744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88920" y="1362456"/>
            <a:ext cx="4479234" cy="23774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3018" y="1289304"/>
            <a:ext cx="685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78BFA"/>
                </a:solidFill>
                <a:latin typeface="Calibri"/>
              </a:rPr>
              <a:t>86.7%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289304"/>
            <a:ext cx="6217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AA"/>
                </a:solidFill>
                <a:latin typeface="Calibri"/>
              </a:rPr>
              <a:t>4.33/5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1737360"/>
            <a:ext cx="8732520" cy="475488"/>
          </a:xfrm>
          <a:prstGeom prst="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8600" y="182880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182880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792224"/>
            <a:ext cx="2057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3A"/>
                </a:solidFill>
                <a:latin typeface="Calibri"/>
              </a:rPr>
              <a:t>สภาพแวดล้อมและทีม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1874520"/>
            <a:ext cx="5166360" cy="237744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88920" y="1874520"/>
            <a:ext cx="4360407" cy="23774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4191" y="1801368"/>
            <a:ext cx="685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B82F6"/>
                </a:solidFill>
                <a:latin typeface="Calibri"/>
              </a:rPr>
              <a:t>84.4%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801368"/>
            <a:ext cx="6217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AA"/>
                </a:solidFill>
                <a:latin typeface="Calibri"/>
              </a:rPr>
              <a:t>4.22/5</a:t>
            </a:r>
          </a:p>
        </p:txBody>
      </p:sp>
      <p:sp>
        <p:nvSpPr>
          <p:cNvPr id="33" name="Oval 32"/>
          <p:cNvSpPr/>
          <p:nvPr/>
        </p:nvSpPr>
        <p:spPr>
          <a:xfrm>
            <a:off x="228600" y="2340864"/>
            <a:ext cx="320040" cy="320040"/>
          </a:xfrm>
          <a:prstGeom prst="ellipse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" y="2340864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2304288"/>
            <a:ext cx="2057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3A"/>
                </a:solidFill>
                <a:latin typeface="Calibri"/>
              </a:rPr>
              <a:t>ความผูกพันองค์กร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88920" y="2386584"/>
            <a:ext cx="5166360" cy="237744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88920" y="2386584"/>
            <a:ext cx="4195084" cy="237744"/>
          </a:xfrm>
          <a:prstGeom prst="rect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38868" y="2313432"/>
            <a:ext cx="685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C6FEF"/>
                </a:solidFill>
                <a:latin typeface="Calibri"/>
              </a:rPr>
              <a:t>81.2%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313432"/>
            <a:ext cx="6217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AA"/>
                </a:solidFill>
                <a:latin typeface="Calibri"/>
              </a:rPr>
              <a:t>4.06/5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761488"/>
            <a:ext cx="8732520" cy="475488"/>
          </a:xfrm>
          <a:prstGeom prst="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28600" y="2852928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" y="285292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2816352"/>
            <a:ext cx="2057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3A"/>
                </a:solidFill>
                <a:latin typeface="Calibri"/>
              </a:rPr>
              <a:t>การพัฒนาและเติบโต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88920" y="2898648"/>
            <a:ext cx="5166360" cy="237744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88920" y="2898648"/>
            <a:ext cx="4195084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38868" y="2825496"/>
            <a:ext cx="685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B981"/>
                </a:solidFill>
                <a:latin typeface="Calibri"/>
              </a:rPr>
              <a:t>81.2%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2825496"/>
            <a:ext cx="6217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AA"/>
                </a:solidFill>
                <a:latin typeface="Calibri"/>
              </a:rPr>
              <a:t>4.06/5</a:t>
            </a:r>
          </a:p>
        </p:txBody>
      </p:sp>
      <p:sp>
        <p:nvSpPr>
          <p:cNvPr id="48" name="Oval 47"/>
          <p:cNvSpPr/>
          <p:nvPr/>
        </p:nvSpPr>
        <p:spPr>
          <a:xfrm>
            <a:off x="228600" y="3364992"/>
            <a:ext cx="320040" cy="3200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8600" y="336499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3328416"/>
            <a:ext cx="2057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3A"/>
                </a:solidFill>
                <a:latin typeface="Calibri"/>
              </a:rPr>
              <a:t>ค่าตอบแทนและสวัสดิการ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88920" y="3410712"/>
            <a:ext cx="5166360" cy="237744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88920" y="3410712"/>
            <a:ext cx="3947099" cy="23774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90883" y="3337560"/>
            <a:ext cx="685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72B6"/>
                </a:solidFill>
                <a:latin typeface="Calibri"/>
              </a:rPr>
              <a:t>76.4%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3337560"/>
            <a:ext cx="6217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AA"/>
                </a:solidFill>
                <a:latin typeface="Calibri"/>
              </a:rPr>
              <a:t>3.82/5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3785616"/>
            <a:ext cx="8732520" cy="475488"/>
          </a:xfrm>
          <a:prstGeom prst="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28600" y="3877056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8600" y="3877056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3840480"/>
            <a:ext cx="20574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E3A"/>
                </a:solidFill>
                <a:latin typeface="Calibri"/>
              </a:rPr>
              <a:t>การสื่อสาร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88920" y="3922776"/>
            <a:ext cx="5166360" cy="237744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88920" y="3922776"/>
            <a:ext cx="3900601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44385" y="3849624"/>
            <a:ext cx="685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9E0B"/>
                </a:solidFill>
                <a:latin typeface="Calibri"/>
              </a:rPr>
              <a:t>75.5%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3849624"/>
            <a:ext cx="62179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66AA"/>
                </a:solidFill>
                <a:latin typeface="Calibri"/>
              </a:rPr>
              <a:t>3.77/5</a:t>
            </a:r>
          </a:p>
        </p:txBody>
      </p:sp>
      <p:sp>
        <p:nvSpPr>
          <p:cNvPr id="63" name="Block Arc 62"/>
          <p:cNvSpPr/>
          <p:nvPr/>
        </p:nvSpPr>
        <p:spPr>
          <a:xfrm>
            <a:off x="7040834" y="658368"/>
            <a:ext cx="914" cy="3657600"/>
          </a:xfrm>
          <a:prstGeom prst="blockArc">
            <a:avLst/>
          </a:prstGeom>
          <a:noFill/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37914" y="548640"/>
            <a:ext cx="1005840" cy="256032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37914" y="548640"/>
            <a:ext cx="1005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EF4444"/>
                </a:solidFill>
                <a:latin typeface="Calibri"/>
              </a:rPr>
              <a:t>รวม 82.3%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8E8F8"/>
                </a:solidFill>
                <a:latin typeface="Calibri"/>
              </a:rPr>
              <a:t>🏆 จุดแข็งขององค์กร — Top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AA"/>
                </a:solidFill>
                <a:latin typeface="Calibri"/>
              </a:rPr>
              <a:t>Highest Engagement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F0F0F8"/>
          </a:solidFill>
          <a:ln w="3810">
            <a:solidFill>
              <a:srgbClr val="E0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28616"/>
            <a:ext cx="8229600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CC"/>
                </a:solidFill>
                <a:latin typeface="Calibri"/>
              </a:rPr>
              <a:t>Employee Engagement Survey 2026  ·  บริษัท ดูดี อินดีด คอร์ปอเรชั่น จำกัด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928616"/>
            <a:ext cx="502920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AAACC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694944"/>
            <a:ext cx="2743200" cy="4133087"/>
          </a:xfrm>
          <a:prstGeom prst="rect">
            <a:avLst/>
          </a:prstGeom>
          <a:solidFill>
            <a:srgbClr val="FFFFFF"/>
          </a:solidFill>
          <a:ln w="762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694944"/>
            <a:ext cx="2743200" cy="5669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694944"/>
            <a:ext cx="27432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68880" y="786384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78638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786384"/>
            <a:ext cx="2057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1E3A"/>
                </a:solidFill>
                <a:latin typeface="Calibri"/>
              </a:rPr>
              <a:t>ลักษณะงานและบทบาท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1353312"/>
            <a:ext cx="25603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22D3EE"/>
                </a:solidFill>
                <a:latin typeface="Calibri"/>
              </a:rPr>
              <a:t>88.4%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157984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66AA"/>
                </a:solidFill>
                <a:latin typeface="Calibri"/>
              </a:rPr>
              <a:t>เฉลี่ย 4.42 / 5.00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505456"/>
            <a:ext cx="2487168" cy="292608"/>
          </a:xfrm>
          <a:prstGeom prst="rect">
            <a:avLst/>
          </a:prstGeom>
          <a:solidFill>
            <a:srgbClr val="0A3020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505456"/>
            <a:ext cx="248716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C55E"/>
                </a:solidFill>
                <a:latin typeface="Calibri"/>
              </a:rPr>
              <a:t>🌟 Highly Engaged</a:t>
            </a:r>
          </a:p>
        </p:txBody>
      </p:sp>
      <p:sp>
        <p:nvSpPr>
          <p:cNvPr id="19" name="Block Arc 18"/>
          <p:cNvSpPr/>
          <p:nvPr/>
        </p:nvSpPr>
        <p:spPr>
          <a:xfrm>
            <a:off x="384048" y="2889504"/>
            <a:ext cx="2487168" cy="914"/>
          </a:xfrm>
          <a:prstGeom prst="blockArc">
            <a:avLst/>
          </a:prstGeom>
          <a:noFill/>
          <a:ln w="5080">
            <a:solidFill>
              <a:srgbClr val="E8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962656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AA"/>
                </a:solidFill>
                <a:latin typeface="Calibri"/>
              </a:rPr>
              <a:t>KPI ย่อยเด่น: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419856"/>
            <a:ext cx="2487168" cy="9144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3419856"/>
            <a:ext cx="2337937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273552"/>
            <a:ext cx="2240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E1E3A"/>
                </a:solidFill>
                <a:latin typeface="Calibri"/>
              </a:rPr>
              <a:t>ใช้ความสามารถเต็มที่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3273552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2D3EE"/>
                </a:solidFill>
                <a:latin typeface="Calibri"/>
              </a:rPr>
              <a:t>4.7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3767328"/>
            <a:ext cx="2487168" cy="9144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3767328"/>
            <a:ext cx="2288194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621024"/>
            <a:ext cx="2240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E1E3A"/>
                </a:solidFill>
                <a:latin typeface="Calibri"/>
              </a:rPr>
              <a:t>งานท้าทายพัฒนาทักษะ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3744" y="3621024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2D3EE"/>
                </a:solidFill>
                <a:latin typeface="Calibri"/>
              </a:rPr>
              <a:t>4.6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114800"/>
            <a:ext cx="2487168" cy="9144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4114800"/>
            <a:ext cx="2238451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3968496"/>
            <a:ext cx="2240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E1E3A"/>
                </a:solidFill>
                <a:latin typeface="Calibri"/>
              </a:rPr>
              <a:t>งานสำคัญต่อองค์กร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3744" y="3968496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2D3EE"/>
                </a:solidFill>
                <a:latin typeface="Calibri"/>
              </a:rPr>
              <a:t>4.5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" y="4462272"/>
            <a:ext cx="2487168" cy="9144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4048" y="4462272"/>
            <a:ext cx="2188707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4315968"/>
            <a:ext cx="2240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E1E3A"/>
                </a:solidFill>
                <a:latin typeface="Calibri"/>
              </a:rPr>
              <a:t>เข้าใจหน้าที่ตนเอง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23744" y="4315968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2D3EE"/>
                </a:solidFill>
                <a:latin typeface="Calibri"/>
              </a:rPr>
              <a:t>4.4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694944"/>
            <a:ext cx="2743200" cy="4133087"/>
          </a:xfrm>
          <a:prstGeom prst="rect">
            <a:avLst/>
          </a:prstGeom>
          <a:solidFill>
            <a:srgbClr val="FFFFFF"/>
          </a:solidFill>
          <a:ln w="762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0" y="694944"/>
            <a:ext cx="2743200" cy="5669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0" y="694944"/>
            <a:ext cx="27432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13248" y="786384"/>
            <a:ext cx="384048" cy="38404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13248" y="78638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#2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28416" y="786384"/>
            <a:ext cx="2057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1E3A"/>
                </a:solidFill>
                <a:latin typeface="Calibri"/>
              </a:rPr>
              <a:t>ภาวะผู้นำ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28416" y="1353312"/>
            <a:ext cx="25603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A78BFA"/>
                </a:solidFill>
                <a:latin typeface="Calibri"/>
              </a:rPr>
              <a:t>86.7%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28416" y="2157984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66AA"/>
                </a:solidFill>
                <a:latin typeface="Calibri"/>
              </a:rPr>
              <a:t>เฉลี่ย 4.33 / 5.00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28416" y="2505456"/>
            <a:ext cx="2487168" cy="292608"/>
          </a:xfrm>
          <a:prstGeom prst="rect">
            <a:avLst/>
          </a:prstGeom>
          <a:solidFill>
            <a:srgbClr val="0A3020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28416" y="2505456"/>
            <a:ext cx="248716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C55E"/>
                </a:solidFill>
                <a:latin typeface="Calibri"/>
              </a:rPr>
              <a:t>🌟 Highly Engaged</a:t>
            </a:r>
          </a:p>
        </p:txBody>
      </p:sp>
      <p:sp>
        <p:nvSpPr>
          <p:cNvPr id="47" name="Block Arc 46"/>
          <p:cNvSpPr/>
          <p:nvPr/>
        </p:nvSpPr>
        <p:spPr>
          <a:xfrm>
            <a:off x="3328416" y="2889504"/>
            <a:ext cx="2487168" cy="914"/>
          </a:xfrm>
          <a:prstGeom prst="blockArc">
            <a:avLst/>
          </a:prstGeom>
          <a:noFill/>
          <a:ln w="5080">
            <a:solidFill>
              <a:srgbClr val="E8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28416" y="2962656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AA"/>
                </a:solidFill>
                <a:latin typeface="Calibri"/>
              </a:rPr>
              <a:t>KPI ย่อยเด่น: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28416" y="3419856"/>
            <a:ext cx="2487168" cy="9144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328416" y="3419856"/>
            <a:ext cx="2337937" cy="91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28416" y="3273552"/>
            <a:ext cx="2240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E1E3A"/>
                </a:solidFill>
                <a:latin typeface="Calibri"/>
              </a:rPr>
              <a:t>หัวหน้าปฏิบัติยุติธรรม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68112" y="3273552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78BFA"/>
                </a:solidFill>
                <a:latin typeface="Calibri"/>
              </a:rPr>
              <a:t>4.7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28416" y="3767328"/>
            <a:ext cx="2487168" cy="9144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28416" y="3767328"/>
            <a:ext cx="2188707" cy="91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28416" y="3621024"/>
            <a:ext cx="2240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E1E3A"/>
                </a:solidFill>
                <a:latin typeface="Calibri"/>
              </a:rPr>
              <a:t>หัวหน้าแก้ปัญหาได้ดี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68112" y="3621024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78BFA"/>
                </a:solidFill>
                <a:latin typeface="Calibri"/>
              </a:rPr>
              <a:t>4.4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28416" y="4114800"/>
            <a:ext cx="2487168" cy="9144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28416" y="4114800"/>
            <a:ext cx="2188707" cy="91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28416" y="3968496"/>
            <a:ext cx="2240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E1E3A"/>
                </a:solidFill>
                <a:latin typeface="Calibri"/>
              </a:rPr>
              <a:t>หัวหน้ารับฟัง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68112" y="3968496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78BFA"/>
                </a:solidFill>
                <a:latin typeface="Calibri"/>
              </a:rPr>
              <a:t>4.4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28416" y="4462272"/>
            <a:ext cx="2487168" cy="9144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28416" y="4462272"/>
            <a:ext cx="2089221" cy="91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28416" y="4315968"/>
            <a:ext cx="2240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E1E3A"/>
                </a:solidFill>
                <a:latin typeface="Calibri"/>
              </a:rPr>
              <a:t>หัวหน้า Feedback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68112" y="4315968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78BFA"/>
                </a:solidFill>
                <a:latin typeface="Calibri"/>
              </a:rPr>
              <a:t>4.2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44768" y="694944"/>
            <a:ext cx="2743200" cy="4133087"/>
          </a:xfrm>
          <a:prstGeom prst="rect">
            <a:avLst/>
          </a:prstGeom>
          <a:solidFill>
            <a:srgbClr val="FFFFFF"/>
          </a:solidFill>
          <a:ln w="762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44768" y="694944"/>
            <a:ext cx="2743200" cy="5669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44768" y="694944"/>
            <a:ext cx="2743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357616" y="786384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57616" y="78638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#3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72784" y="786384"/>
            <a:ext cx="20574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1E3A"/>
                </a:solidFill>
                <a:latin typeface="Calibri"/>
              </a:rPr>
              <a:t>สภาพแวดล้อมและทีม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72784" y="1353312"/>
            <a:ext cx="256032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3B82F6"/>
                </a:solidFill>
                <a:latin typeface="Calibri"/>
              </a:rPr>
              <a:t>84.4%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72784" y="2157984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66AA"/>
                </a:solidFill>
                <a:latin typeface="Calibri"/>
              </a:rPr>
              <a:t>เฉลี่ย 4.22 / 5.00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72784" y="2505456"/>
            <a:ext cx="2487168" cy="292608"/>
          </a:xfrm>
          <a:prstGeom prst="rect">
            <a:avLst/>
          </a:prstGeom>
          <a:solidFill>
            <a:srgbClr val="0A3020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72784" y="2505456"/>
            <a:ext cx="248716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C55E"/>
                </a:solidFill>
                <a:latin typeface="Calibri"/>
              </a:rPr>
              <a:t>🌟 Highly Engaged</a:t>
            </a:r>
          </a:p>
        </p:txBody>
      </p:sp>
      <p:sp>
        <p:nvSpPr>
          <p:cNvPr id="75" name="Block Arc 74"/>
          <p:cNvSpPr/>
          <p:nvPr/>
        </p:nvSpPr>
        <p:spPr>
          <a:xfrm>
            <a:off x="6272784" y="2889504"/>
            <a:ext cx="2487168" cy="914"/>
          </a:xfrm>
          <a:prstGeom prst="blockArc">
            <a:avLst/>
          </a:prstGeom>
          <a:noFill/>
          <a:ln w="5080">
            <a:solidFill>
              <a:srgbClr val="E8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72784" y="2962656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AA"/>
                </a:solidFill>
                <a:latin typeface="Calibri"/>
              </a:rPr>
              <a:t>KPI ย่อยเด่น: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72784" y="3419856"/>
            <a:ext cx="2487168" cy="9144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72784" y="3419856"/>
            <a:ext cx="2337937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72784" y="3273552"/>
            <a:ext cx="2240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E1E3A"/>
                </a:solidFill>
                <a:latin typeface="Calibri"/>
              </a:rPr>
              <a:t>เพื่อนร่วมงานร่วมมือ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3273552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B82F6"/>
                </a:solidFill>
                <a:latin typeface="Calibri"/>
              </a:rPr>
              <a:t>4.7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72784" y="3767328"/>
            <a:ext cx="2487168" cy="9144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272784" y="3767328"/>
            <a:ext cx="2238451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72784" y="3621024"/>
            <a:ext cx="2240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E1E3A"/>
                </a:solidFill>
                <a:latin typeface="Calibri"/>
              </a:rPr>
              <a:t>วัฒนธรรมทีม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12480" y="3621024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B82F6"/>
                </a:solidFill>
                <a:latin typeface="Calibri"/>
              </a:rPr>
              <a:t>4.5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72784" y="4114800"/>
            <a:ext cx="2487168" cy="9144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272784" y="4114800"/>
            <a:ext cx="2039477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72784" y="3968496"/>
            <a:ext cx="2240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E1E3A"/>
                </a:solidFill>
                <a:latin typeface="Calibri"/>
              </a:rPr>
              <a:t>ความสุขในการทำงาน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12480" y="3968496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B82F6"/>
                </a:solidFill>
                <a:latin typeface="Calibri"/>
              </a:rPr>
              <a:t>4.1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272784" y="4462272"/>
            <a:ext cx="2487168" cy="9144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272784" y="4462272"/>
            <a:ext cx="2039477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72784" y="4315968"/>
            <a:ext cx="2240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E1E3A"/>
                </a:solidFill>
                <a:latin typeface="Calibri"/>
              </a:rPr>
              <a:t>สภาพแวดล้อมดี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12480" y="4315968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B82F6"/>
                </a:solidFill>
                <a:latin typeface="Calibri"/>
              </a:rPr>
              <a:t>4.1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8E8F8"/>
                </a:solidFill>
                <a:latin typeface="Calibri"/>
              </a:rPr>
              <a:t>⚠️ มิติที่ต้องพัฒนาเร่งด่วน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AA"/>
                </a:solidFill>
                <a:latin typeface="Calibri"/>
              </a:rPr>
              <a:t>Priority Areas for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F0F0F8"/>
          </a:solidFill>
          <a:ln w="3810">
            <a:solidFill>
              <a:srgbClr val="E0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28616"/>
            <a:ext cx="8229600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CC"/>
                </a:solidFill>
                <a:latin typeface="Calibri"/>
              </a:rPr>
              <a:t>Employee Engagement Survey 2026  ·  บริษัท ดูดี อินดีด คอร์ปอเรชั่น จำกัด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928616"/>
            <a:ext cx="502920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AAACC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694944"/>
            <a:ext cx="4206240" cy="4133087"/>
          </a:xfrm>
          <a:prstGeom prst="rect">
            <a:avLst/>
          </a:prstGeom>
          <a:solidFill>
            <a:srgbClr val="FFFFFF"/>
          </a:solidFill>
          <a:ln w="762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694944"/>
            <a:ext cx="4206240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694944"/>
            <a:ext cx="4206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786384"/>
            <a:ext cx="402335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1E3A"/>
                </a:solidFill>
                <a:latin typeface="Calibri"/>
              </a:rPr>
              <a:t>การสื่อสาร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362456"/>
            <a:ext cx="2011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59E0B"/>
                </a:solidFill>
                <a:latin typeface="Calibri"/>
              </a:rPr>
              <a:t>75.5%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112264"/>
            <a:ext cx="402335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66AA"/>
                </a:solidFill>
                <a:latin typeface="Calibri"/>
              </a:rPr>
              <a:t>เฉลี่ย 3.77 / 5.00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468880"/>
            <a:ext cx="3950207" cy="310896"/>
          </a:xfrm>
          <a:prstGeom prst="rect">
            <a:avLst/>
          </a:prstGeom>
          <a:solidFill>
            <a:srgbClr val="302000"/>
          </a:solidFill>
          <a:ln w="63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468880"/>
            <a:ext cx="395020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AB308"/>
                </a:solidFill>
                <a:latin typeface="Calibri"/>
              </a:rPr>
              <a:t>⚠️ ต้องพัฒนา (Needs Attention)</a:t>
            </a:r>
          </a:p>
        </p:txBody>
      </p:sp>
      <p:sp>
        <p:nvSpPr>
          <p:cNvPr id="17" name="Block Arc 16"/>
          <p:cNvSpPr/>
          <p:nvPr/>
        </p:nvSpPr>
        <p:spPr>
          <a:xfrm>
            <a:off x="384048" y="2889504"/>
            <a:ext cx="3950208" cy="914"/>
          </a:xfrm>
          <a:prstGeom prst="blockArc">
            <a:avLst/>
          </a:prstGeom>
          <a:noFill/>
          <a:ln w="508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2962656"/>
            <a:ext cx="402335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AA"/>
                </a:solidFill>
                <a:latin typeface="Calibri"/>
              </a:rPr>
              <a:t>รายละเอียด KPI: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438144"/>
            <a:ext cx="3950207" cy="91440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3438144"/>
            <a:ext cx="308116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291839"/>
            <a:ext cx="365759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1E3A"/>
                </a:solidFill>
                <a:latin typeface="Calibri"/>
              </a:rPr>
              <a:t>วิสัยทัศน์ผู้บริหาร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6783" y="3291839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Calibri"/>
              </a:rPr>
              <a:t>3.9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739896"/>
            <a:ext cx="3950207" cy="91440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3739896"/>
            <a:ext cx="300215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3593591"/>
            <a:ext cx="365759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1E3A"/>
                </a:solidFill>
                <a:latin typeface="Calibri"/>
              </a:rPr>
              <a:t>สื่อสารระหว่างแผนก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86783" y="3593591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Calibri"/>
              </a:rPr>
              <a:t>3.8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041648"/>
            <a:ext cx="3950207" cy="91440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4041648"/>
            <a:ext cx="3002158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895344"/>
            <a:ext cx="365759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1E3A"/>
                </a:solidFill>
                <a:latin typeface="Calibri"/>
              </a:rPr>
              <a:t>ข่าวสารจำเป็น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86783" y="3895344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9E0B"/>
                </a:solidFill>
                <a:latin typeface="Calibri"/>
              </a:rPr>
              <a:t>3.8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4343400"/>
            <a:ext cx="3950207" cy="91440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4343400"/>
            <a:ext cx="2844149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4197096"/>
            <a:ext cx="365759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F4444"/>
                </a:solidFill>
                <a:latin typeface="Calibri"/>
              </a:rPr>
              <a:t>สื่อสารชัดเจน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86783" y="4197096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F4444"/>
                </a:solidFill>
                <a:latin typeface="Calibri"/>
              </a:rPr>
              <a:t>3.6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36592" y="694944"/>
            <a:ext cx="4206240" cy="4133087"/>
          </a:xfrm>
          <a:prstGeom prst="rect">
            <a:avLst/>
          </a:prstGeom>
          <a:solidFill>
            <a:srgbClr val="FFFFFF"/>
          </a:solidFill>
          <a:ln w="762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36592" y="694944"/>
            <a:ext cx="4206240" cy="56692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36592" y="694944"/>
            <a:ext cx="420624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64608" y="786384"/>
            <a:ext cx="402335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1E3A"/>
                </a:solidFill>
                <a:latin typeface="Calibri"/>
              </a:rPr>
              <a:t>ค่าตอบแทนและสวัสดิการ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64608" y="1362456"/>
            <a:ext cx="20116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472B6"/>
                </a:solidFill>
                <a:latin typeface="Calibri"/>
              </a:rPr>
              <a:t>76.4%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64608" y="2112264"/>
            <a:ext cx="402335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66AA"/>
                </a:solidFill>
                <a:latin typeface="Calibri"/>
              </a:rPr>
              <a:t>เฉลี่ย 3.82 / 5.00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64608" y="2468880"/>
            <a:ext cx="3950207" cy="310896"/>
          </a:xfrm>
          <a:prstGeom prst="rect">
            <a:avLst/>
          </a:prstGeom>
          <a:solidFill>
            <a:srgbClr val="302000"/>
          </a:solidFill>
          <a:ln w="63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64608" y="2468880"/>
            <a:ext cx="3950207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AB308"/>
                </a:solidFill>
                <a:latin typeface="Calibri"/>
              </a:rPr>
              <a:t>⚠️ ต้องพัฒนา (Needs Attention)</a:t>
            </a:r>
          </a:p>
        </p:txBody>
      </p:sp>
      <p:sp>
        <p:nvSpPr>
          <p:cNvPr id="43" name="Block Arc 42"/>
          <p:cNvSpPr/>
          <p:nvPr/>
        </p:nvSpPr>
        <p:spPr>
          <a:xfrm>
            <a:off x="4864608" y="2889504"/>
            <a:ext cx="3950208" cy="914"/>
          </a:xfrm>
          <a:prstGeom prst="blockArc">
            <a:avLst/>
          </a:prstGeom>
          <a:noFill/>
          <a:ln w="508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64608" y="2962656"/>
            <a:ext cx="402335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66AA"/>
                </a:solidFill>
                <a:latin typeface="Calibri"/>
              </a:rPr>
              <a:t>รายละเอียด KPI: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64608" y="3438144"/>
            <a:ext cx="3950207" cy="91440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64608" y="3438144"/>
            <a:ext cx="3160166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64608" y="3291839"/>
            <a:ext cx="365759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1E3A"/>
                </a:solidFill>
                <a:latin typeface="Calibri"/>
              </a:rPr>
              <a:t>สวัสดิการ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67344" y="3291839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2C55E"/>
                </a:solidFill>
                <a:latin typeface="Calibri"/>
              </a:rPr>
              <a:t>4.0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64608" y="3739896"/>
            <a:ext cx="3950207" cy="91440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64608" y="3739896"/>
            <a:ext cx="3081162" cy="914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64608" y="3593591"/>
            <a:ext cx="365759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1E3A"/>
                </a:solidFill>
                <a:latin typeface="Calibri"/>
              </a:rPr>
              <a:t>เงินเดือน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67344" y="3593591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72B6"/>
                </a:solidFill>
                <a:latin typeface="Calibri"/>
              </a:rPr>
              <a:t>3.9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64608" y="4041648"/>
            <a:ext cx="3950207" cy="91440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64608" y="4041648"/>
            <a:ext cx="3081162" cy="914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64608" y="3895344"/>
            <a:ext cx="365759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1E3A"/>
                </a:solidFill>
                <a:latin typeface="Calibri"/>
              </a:rPr>
              <a:t>พอใจผลตอบแทน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67344" y="3895344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72B6"/>
                </a:solidFill>
                <a:latin typeface="Calibri"/>
              </a:rPr>
              <a:t>3.9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64608" y="4343400"/>
            <a:ext cx="3950207" cy="91440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864608" y="4343400"/>
            <a:ext cx="3002158" cy="914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64608" y="4197096"/>
            <a:ext cx="365759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1E3A"/>
                </a:solidFill>
                <a:latin typeface="Calibri"/>
              </a:rPr>
              <a:t>คุณภาพชีวิต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67344" y="4197096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472B6"/>
                </a:solidFill>
                <a:latin typeface="Calibri"/>
              </a:rPr>
              <a:t>3.8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64608" y="4645152"/>
            <a:ext cx="3950207" cy="91440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64608" y="4645152"/>
            <a:ext cx="2765145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64608" y="4498848"/>
            <a:ext cx="365759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F4444"/>
                </a:solidFill>
                <a:latin typeface="Calibri"/>
              </a:rPr>
              <a:t>ประเมินผลยุติธรรม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67344" y="4498848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F4444"/>
                </a:solidFill>
                <a:latin typeface="Calibri"/>
              </a:rPr>
              <a:t>3.5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8E8F8"/>
                </a:solidFill>
                <a:latin typeface="Calibri"/>
              </a:rPr>
              <a:t>วิเคราะห์รายคำถาม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AA"/>
                </a:solidFill>
                <a:latin typeface="Calibri"/>
              </a:rPr>
              <a:t>Top 5 &amp; Bottom 5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F0F0F8"/>
          </a:solidFill>
          <a:ln w="3810">
            <a:solidFill>
              <a:srgbClr val="E0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28616"/>
            <a:ext cx="8229600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CC"/>
                </a:solidFill>
                <a:latin typeface="Calibri"/>
              </a:rPr>
              <a:t>Employee Engagement Survey 2026  ·  บริษัท ดูดี อินดีด คอร์ปอเรชั่น จำกัด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928616"/>
            <a:ext cx="502920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AAACC"/>
                </a:solidFill>
                <a:latin typeface="Calibr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685800"/>
            <a:ext cx="4206240" cy="4133087"/>
          </a:xfrm>
          <a:prstGeom prst="rect">
            <a:avLst/>
          </a:prstGeom>
          <a:solidFill>
            <a:srgbClr val="FFFFFF"/>
          </a:solidFill>
          <a:ln w="762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685800"/>
            <a:ext cx="42062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685800"/>
            <a:ext cx="42062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731520"/>
            <a:ext cx="402335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🌟 Top 5 คะแนนสูงสุด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252728"/>
            <a:ext cx="3986783" cy="621792"/>
          </a:xfrm>
          <a:prstGeom prst="rect">
            <a:avLst/>
          </a:prstGeom>
          <a:solidFill>
            <a:srgbClr val="F0FFF4"/>
          </a:solidFill>
          <a:ln w="381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" y="1380744"/>
            <a:ext cx="347472" cy="34747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138074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1307592"/>
            <a:ext cx="3154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1E3A"/>
                </a:solidFill>
                <a:latin typeface="Calibri"/>
              </a:rPr>
              <a:t>ใช้ความสามารถได้เต็มที่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1581912"/>
            <a:ext cx="3154679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AA"/>
                </a:solidFill>
                <a:latin typeface="Calibri"/>
              </a:rPr>
              <a:t>ลักษณะงาน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352" y="1380744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2C55E"/>
                </a:solidFill>
                <a:latin typeface="Calibri"/>
              </a:rPr>
              <a:t>4.7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947672"/>
            <a:ext cx="3986783" cy="621792"/>
          </a:xfrm>
          <a:prstGeom prst="rect">
            <a:avLst/>
          </a:prstGeom>
          <a:solidFill>
            <a:srgbClr val="F0FFF4"/>
          </a:solidFill>
          <a:ln w="381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0624" y="2075688"/>
            <a:ext cx="347472" cy="3474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20756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2002536"/>
            <a:ext cx="3154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1E3A"/>
                </a:solidFill>
                <a:latin typeface="Calibri"/>
              </a:rPr>
              <a:t>เพื่อนร่วมงานร่วมมือกัน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2276856"/>
            <a:ext cx="3154679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AA"/>
                </a:solidFill>
                <a:latin typeface="Calibri"/>
              </a:rPr>
              <a:t>สภาพแวดล้อม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2075688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2C55E"/>
                </a:solidFill>
                <a:latin typeface="Calibri"/>
              </a:rPr>
              <a:t>4.7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642616"/>
            <a:ext cx="3986783" cy="621792"/>
          </a:xfrm>
          <a:prstGeom prst="rect">
            <a:avLst/>
          </a:prstGeom>
          <a:solidFill>
            <a:srgbClr val="F0FFF4"/>
          </a:solidFill>
          <a:ln w="381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0624" y="2770632"/>
            <a:ext cx="347472" cy="34747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2770632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2697480"/>
            <a:ext cx="3154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1E3A"/>
                </a:solidFill>
                <a:latin typeface="Calibri"/>
              </a:rPr>
              <a:t>หัวหน้าปฏิบัติยุติธรรม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2971800"/>
            <a:ext cx="3154679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AA"/>
                </a:solidFill>
                <a:latin typeface="Calibri"/>
              </a:rPr>
              <a:t>ภาวะผู้นำ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59352" y="2770632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2C55E"/>
                </a:solidFill>
                <a:latin typeface="Calibri"/>
              </a:rPr>
              <a:t>4.7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37560"/>
            <a:ext cx="3986783" cy="621792"/>
          </a:xfrm>
          <a:prstGeom prst="rect">
            <a:avLst/>
          </a:prstGeom>
          <a:solidFill>
            <a:srgbClr val="F0FFF4"/>
          </a:solidFill>
          <a:ln w="381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20624" y="3465576"/>
            <a:ext cx="347472" cy="34747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" y="3465576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3392424"/>
            <a:ext cx="3154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1E3A"/>
                </a:solidFill>
                <a:latin typeface="Calibri"/>
              </a:rPr>
              <a:t>งานท้าทายพัฒนาทักษะ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3666744"/>
            <a:ext cx="3154679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AA"/>
                </a:solidFill>
                <a:latin typeface="Calibri"/>
              </a:rPr>
              <a:t>ลักษณะงาน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59352" y="3465576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2C55E"/>
                </a:solidFill>
                <a:latin typeface="Calibri"/>
              </a:rPr>
              <a:t>4.6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032504"/>
            <a:ext cx="3986783" cy="621792"/>
          </a:xfrm>
          <a:prstGeom prst="rect">
            <a:avLst/>
          </a:prstGeom>
          <a:solidFill>
            <a:srgbClr val="F0FFF4"/>
          </a:solidFill>
          <a:ln w="381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20624" y="4160520"/>
            <a:ext cx="347472" cy="3474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" y="4160520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4087368"/>
            <a:ext cx="3154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1E3A"/>
                </a:solidFill>
                <a:latin typeface="Calibri"/>
              </a:rPr>
              <a:t>วัฒนธรรมทำงานเป็นทีม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4361688"/>
            <a:ext cx="3154679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AA"/>
                </a:solidFill>
                <a:latin typeface="Calibri"/>
              </a:rPr>
              <a:t>สภาพแวดล้อม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9352" y="4160520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2C55E"/>
                </a:solidFill>
                <a:latin typeface="Calibri"/>
              </a:rPr>
              <a:t>4.5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28032" y="685800"/>
            <a:ext cx="4206240" cy="4133087"/>
          </a:xfrm>
          <a:prstGeom prst="rect">
            <a:avLst/>
          </a:prstGeom>
          <a:solidFill>
            <a:srgbClr val="FFFFFF"/>
          </a:solidFill>
          <a:ln w="762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828032" y="685800"/>
            <a:ext cx="420624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828032" y="685800"/>
            <a:ext cx="42062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56048" y="731520"/>
            <a:ext cx="402335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⚡ ต้องพัฒนา 5 อันดับ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1252728"/>
            <a:ext cx="3986783" cy="621792"/>
          </a:xfrm>
          <a:prstGeom prst="rect">
            <a:avLst/>
          </a:prstGeom>
          <a:solidFill>
            <a:srgbClr val="FFF4F4"/>
          </a:solidFill>
          <a:ln w="381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92624" y="1380744"/>
            <a:ext cx="347472" cy="347472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92624" y="138074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13248" y="1307592"/>
            <a:ext cx="3154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1E3A"/>
                </a:solidFill>
                <a:latin typeface="Calibri"/>
              </a:rPr>
              <a:t>ประเมินผลยุติธรรม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13248" y="1581912"/>
            <a:ext cx="3154679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AA"/>
                </a:solidFill>
                <a:latin typeface="Calibri"/>
              </a:rPr>
              <a:t>ค่าตอบแทน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31351" y="1380744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F4444"/>
                </a:solidFill>
                <a:latin typeface="Calibri"/>
              </a:rPr>
              <a:t>3.5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0" y="1947672"/>
            <a:ext cx="3986783" cy="621792"/>
          </a:xfrm>
          <a:prstGeom prst="rect">
            <a:avLst/>
          </a:prstGeom>
          <a:solidFill>
            <a:srgbClr val="FFF4F4"/>
          </a:solidFill>
          <a:ln w="381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992624" y="2075688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92624" y="207568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13248" y="2002536"/>
            <a:ext cx="3154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1E3A"/>
                </a:solidFill>
                <a:latin typeface="Calibri"/>
              </a:rPr>
              <a:t>สื่อสารในองค์กรชัดเจน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13248" y="2276856"/>
            <a:ext cx="3154679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AA"/>
                </a:solidFill>
                <a:latin typeface="Calibri"/>
              </a:rPr>
              <a:t>การสื่อสาร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31351" y="2075688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F4444"/>
                </a:solidFill>
                <a:latin typeface="Calibri"/>
              </a:rPr>
              <a:t>3.6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60" y="2642616"/>
            <a:ext cx="3986783" cy="621792"/>
          </a:xfrm>
          <a:prstGeom prst="rect">
            <a:avLst/>
          </a:prstGeom>
          <a:solidFill>
            <a:srgbClr val="FFF4F4"/>
          </a:solidFill>
          <a:ln w="381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992624" y="2770632"/>
            <a:ext cx="347472" cy="3474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92624" y="2770632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13248" y="2697480"/>
            <a:ext cx="3154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1E3A"/>
                </a:solidFill>
                <a:latin typeface="Calibri"/>
              </a:rPr>
              <a:t>อุปกรณ์เพียงพอ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13248" y="2971800"/>
            <a:ext cx="3154679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AA"/>
                </a:solidFill>
                <a:latin typeface="Calibri"/>
              </a:rPr>
              <a:t>สภาพแวดล้อม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31351" y="2770632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F4444"/>
                </a:solidFill>
                <a:latin typeface="Calibri"/>
              </a:rPr>
              <a:t>3.7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37760" y="3337560"/>
            <a:ext cx="3986783" cy="621792"/>
          </a:xfrm>
          <a:prstGeom prst="rect">
            <a:avLst/>
          </a:prstGeom>
          <a:solidFill>
            <a:srgbClr val="FFF4F4"/>
          </a:solidFill>
          <a:ln w="381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992624" y="3465576"/>
            <a:ext cx="347472" cy="347472"/>
          </a:xfrm>
          <a:prstGeom prst="ellipse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92624" y="3465576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13248" y="3392424"/>
            <a:ext cx="3154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1E3A"/>
                </a:solidFill>
                <a:latin typeface="Calibri"/>
              </a:rPr>
              <a:t>เชื่อมั่นในทิศทางองค์กร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13248" y="3666744"/>
            <a:ext cx="3154679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AA"/>
                </a:solidFill>
                <a:latin typeface="Calibri"/>
              </a:rPr>
              <a:t>ความผูกพัน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31351" y="3465576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F4444"/>
                </a:solidFill>
                <a:latin typeface="Calibri"/>
              </a:rPr>
              <a:t>3.8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37760" y="4032504"/>
            <a:ext cx="3986783" cy="621792"/>
          </a:xfrm>
          <a:prstGeom prst="rect">
            <a:avLst/>
          </a:prstGeom>
          <a:solidFill>
            <a:srgbClr val="FFF4F4"/>
          </a:solidFill>
          <a:ln w="381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992624" y="416052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92624" y="4160520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13248" y="4087368"/>
            <a:ext cx="31546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1E3A"/>
                </a:solidFill>
                <a:latin typeface="Calibri"/>
              </a:rPr>
              <a:t>โอกาสฝึกอบรม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13248" y="4361688"/>
            <a:ext cx="3154679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66AA"/>
                </a:solidFill>
                <a:latin typeface="Calibri"/>
              </a:rPr>
              <a:t>การพัฒนา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31351" y="4160520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F4444"/>
                </a:solidFill>
                <a:latin typeface="Calibri"/>
              </a:rPr>
              <a:t>3.8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8E8F8"/>
                </a:solidFill>
                <a:latin typeface="Calibri"/>
              </a:rPr>
              <a:t>คะแนนความผูกพันรายบุคคล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AA"/>
                </a:solidFill>
                <a:latin typeface="Calibri"/>
              </a:rPr>
              <a:t>Individual Engagement Scores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F0F0F8"/>
          </a:solidFill>
          <a:ln w="3810">
            <a:solidFill>
              <a:srgbClr val="E0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28616"/>
            <a:ext cx="8229600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CC"/>
                </a:solidFill>
                <a:latin typeface="Calibri"/>
              </a:rPr>
              <a:t>Employee Engagement Survey 2026  ·  บริษัท ดูดี อินดีด คอร์ปอเรชั่น จำกัด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928616"/>
            <a:ext cx="502920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AAACC"/>
                </a:solidFill>
                <a:latin typeface="Calibr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94944"/>
            <a:ext cx="8732520" cy="374904"/>
          </a:xfrm>
          <a:prstGeom prst="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731520"/>
            <a:ext cx="2377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1E3A"/>
                </a:solidFill>
                <a:latin typeface="Calibri"/>
              </a:rPr>
              <a:t>เจ้าหน้าที่จัดซื้อ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786384"/>
            <a:ext cx="5303520" cy="201168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786384"/>
            <a:ext cx="4995915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3979" y="731520"/>
            <a:ext cx="640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C55E"/>
                </a:solidFill>
                <a:latin typeface="Calibri"/>
              </a:rPr>
              <a:t>4.71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097280"/>
            <a:ext cx="8732520" cy="374904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133856"/>
            <a:ext cx="2377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1E3A"/>
                </a:solidFill>
                <a:latin typeface="Calibri"/>
              </a:rPr>
              <a:t>Mid Frontend Dev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188720"/>
            <a:ext cx="5303520" cy="201168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1188720"/>
            <a:ext cx="4942880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0944" y="1133856"/>
            <a:ext cx="640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C55E"/>
                </a:solidFill>
                <a:latin typeface="Calibri"/>
              </a:rPr>
              <a:t>4.66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1499616"/>
            <a:ext cx="8732520" cy="374904"/>
          </a:xfrm>
          <a:prstGeom prst="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1536192"/>
            <a:ext cx="2377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1E3A"/>
                </a:solidFill>
                <a:latin typeface="Calibri"/>
              </a:rPr>
              <a:t>UX/UI Designer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1591056"/>
            <a:ext cx="5303520" cy="201168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1591056"/>
            <a:ext cx="4815596" cy="2011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3660" y="1536192"/>
            <a:ext cx="640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C55E"/>
                </a:solidFill>
                <a:latin typeface="Calibri"/>
              </a:rPr>
              <a:t>4.54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901952"/>
            <a:ext cx="8732520" cy="374904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1938528"/>
            <a:ext cx="2377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1E3A"/>
                </a:solidFill>
                <a:latin typeface="Calibri"/>
              </a:rPr>
              <a:t>Sales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1993392"/>
            <a:ext cx="5303520" cy="201168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0" y="1993392"/>
            <a:ext cx="4667097" cy="201168"/>
          </a:xfrm>
          <a:prstGeom prst="rect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65161" y="1938528"/>
            <a:ext cx="640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C6FEF"/>
                </a:solidFill>
                <a:latin typeface="Calibri"/>
              </a:rPr>
              <a:t>4.40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2304288"/>
            <a:ext cx="8732520" cy="374904"/>
          </a:xfrm>
          <a:prstGeom prst="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340864"/>
            <a:ext cx="2377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1E3A"/>
                </a:solidFill>
                <a:latin typeface="Calibri"/>
              </a:rPr>
              <a:t>WordPress Dev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2395728"/>
            <a:ext cx="5303520" cy="201168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0" y="2395728"/>
            <a:ext cx="4667097" cy="201168"/>
          </a:xfrm>
          <a:prstGeom prst="rect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65161" y="2340864"/>
            <a:ext cx="640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C6FEF"/>
                </a:solidFill>
                <a:latin typeface="Calibri"/>
              </a:rPr>
              <a:t>4.40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2706624"/>
            <a:ext cx="8732520" cy="374904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2743200"/>
            <a:ext cx="2377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1E3A"/>
                </a:solidFill>
                <a:latin typeface="Calibri"/>
              </a:rPr>
              <a:t>System Analyst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2798064"/>
            <a:ext cx="5303520" cy="201168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0" y="2798064"/>
            <a:ext cx="4306458" cy="201168"/>
          </a:xfrm>
          <a:prstGeom prst="rect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04522" y="2743200"/>
            <a:ext cx="640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C6FEF"/>
                </a:solidFill>
                <a:latin typeface="Calibri"/>
              </a:rPr>
              <a:t>4.06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" y="3108960"/>
            <a:ext cx="8732520" cy="374904"/>
          </a:xfrm>
          <a:prstGeom prst="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3145536"/>
            <a:ext cx="2377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1E3A"/>
                </a:solidFill>
                <a:latin typeface="Calibri"/>
              </a:rPr>
              <a:t>Front-end Dev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3200400"/>
            <a:ext cx="5303520" cy="201168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0" y="3200400"/>
            <a:ext cx="4094317" cy="20116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92381" y="3145536"/>
            <a:ext cx="640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AB308"/>
                </a:solidFill>
                <a:latin typeface="Calibri"/>
              </a:rPr>
              <a:t>3.86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3511296"/>
            <a:ext cx="8732520" cy="374904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3547872"/>
            <a:ext cx="2377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1E3A"/>
                </a:solidFill>
                <a:latin typeface="Calibri"/>
              </a:rPr>
              <a:t>Backend Dev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0" y="3602736"/>
            <a:ext cx="5303520" cy="201168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0" y="3602736"/>
            <a:ext cx="3913997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12061" y="3547872"/>
            <a:ext cx="640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4444"/>
                </a:solidFill>
                <a:latin typeface="Calibri"/>
              </a:rPr>
              <a:t>3.69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3913632"/>
            <a:ext cx="8732520" cy="374904"/>
          </a:xfrm>
          <a:prstGeom prst="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3950208"/>
            <a:ext cx="2377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1E3A"/>
                </a:solidFill>
                <a:latin typeface="Calibri"/>
              </a:rPr>
              <a:t>AE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0" y="4005072"/>
            <a:ext cx="5303520" cy="201168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43200" y="4005072"/>
            <a:ext cx="3850355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48419" y="3950208"/>
            <a:ext cx="640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4444"/>
                </a:solidFill>
                <a:latin typeface="Calibri"/>
              </a:rPr>
              <a:t>3.63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" y="4315968"/>
            <a:ext cx="8732520" cy="374904"/>
          </a:xfrm>
          <a:prstGeom prst="rect">
            <a:avLst/>
          </a:prstGeom>
          <a:solidFill>
            <a:srgbClr val="F4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4352544"/>
            <a:ext cx="23774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E1E3A"/>
                </a:solidFill>
                <a:latin typeface="Calibri"/>
              </a:rPr>
              <a:t>Full Stack Dev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0" y="4407407"/>
            <a:ext cx="5303520" cy="201168"/>
          </a:xfrm>
          <a:prstGeom prst="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0" y="4407407"/>
            <a:ext cx="3394252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92316" y="4352544"/>
            <a:ext cx="640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4444"/>
                </a:solidFill>
                <a:latin typeface="Calibri"/>
              </a:rPr>
              <a:t>3.20</a:t>
            </a:r>
          </a:p>
        </p:txBody>
      </p:sp>
      <p:sp>
        <p:nvSpPr>
          <p:cNvPr id="59" name="Block Arc 58"/>
          <p:cNvSpPr/>
          <p:nvPr/>
        </p:nvSpPr>
        <p:spPr>
          <a:xfrm>
            <a:off x="182880" y="4809744"/>
            <a:ext cx="8686800" cy="914"/>
          </a:xfrm>
          <a:prstGeom prst="blockArc">
            <a:avLst/>
          </a:prstGeom>
          <a:noFill/>
          <a:ln w="5080">
            <a:solidFill>
              <a:srgbClr val="D8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4320" y="4846320"/>
            <a:ext cx="201168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352" y="481888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66AA"/>
                </a:solidFill>
                <a:latin typeface="Calibri"/>
              </a:rPr>
              <a:t>≥4.5 Highly Engaged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423160" y="4846320"/>
            <a:ext cx="201168" cy="91440"/>
          </a:xfrm>
          <a:prstGeom prst="rect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79191" y="481888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66AA"/>
                </a:solidFill>
                <a:latin typeface="Calibri"/>
              </a:rPr>
              <a:t>≥4.0 Engaged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0" y="4846320"/>
            <a:ext cx="201168" cy="91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28032" y="481888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66AA"/>
                </a:solidFill>
                <a:latin typeface="Calibri"/>
              </a:rPr>
              <a:t>≥3.7 Moderate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20840" y="4846320"/>
            <a:ext cx="201168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76872" y="481888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666AA"/>
                </a:solidFill>
                <a:latin typeface="Calibri"/>
              </a:rPr>
              <a:t>&lt;3.7 Needs Attn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8E8F8"/>
                </a:solidFill>
                <a:latin typeface="Calibri"/>
              </a:rPr>
              <a:t>💬 เสียงสะท้อนจากพนักงาน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AA"/>
                </a:solidFill>
                <a:latin typeface="Calibri"/>
              </a:rPr>
              <a:t>Voice of Employees — Open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F0F0F8"/>
          </a:solidFill>
          <a:ln w="3810">
            <a:solidFill>
              <a:srgbClr val="E0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28616"/>
            <a:ext cx="8229600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CC"/>
                </a:solidFill>
                <a:latin typeface="Calibri"/>
              </a:rPr>
              <a:t>Employee Engagement Survey 2026  ·  บริษัท ดูดี อินดีด คอร์ปอเรชั่น จำกัด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928616"/>
            <a:ext cx="502920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AAACC"/>
                </a:solidFill>
                <a:latin typeface="Calibr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685800"/>
            <a:ext cx="4206240" cy="4133087"/>
          </a:xfrm>
          <a:prstGeom prst="rect">
            <a:avLst/>
          </a:prstGeom>
          <a:solidFill>
            <a:srgbClr val="FFFFFF"/>
          </a:solidFill>
          <a:ln w="762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685800"/>
            <a:ext cx="42062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685800"/>
            <a:ext cx="42062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731520"/>
            <a:ext cx="402335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👍 สิ่งที่พนักงานชื่นชอบ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252728"/>
            <a:ext cx="3986783" cy="438912"/>
          </a:xfrm>
          <a:prstGeom prst="rect">
            <a:avLst/>
          </a:prstGeom>
          <a:solidFill>
            <a:srgbClr val="F0FFF4"/>
          </a:solidFill>
          <a:ln w="5080">
            <a:solidFill>
              <a:srgbClr val="88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252728"/>
            <a:ext cx="54864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289304"/>
            <a:ext cx="38404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1A5C34"/>
                </a:solidFill>
                <a:latin typeface="Calibri"/>
              </a:rPr>
              <a:t>"ทีมที่ทำงานร่วมกันได้ดี"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764792"/>
            <a:ext cx="3986783" cy="438912"/>
          </a:xfrm>
          <a:prstGeom prst="rect">
            <a:avLst/>
          </a:prstGeom>
          <a:solidFill>
            <a:srgbClr val="F0FFF4"/>
          </a:solidFill>
          <a:ln w="5080">
            <a:solidFill>
              <a:srgbClr val="88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1764792"/>
            <a:ext cx="54864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1801368"/>
            <a:ext cx="38404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1A5C34"/>
                </a:solidFill>
                <a:latin typeface="Calibri"/>
              </a:rPr>
              <a:t>"บรรยากาศการทำงานและเพื่อนร่วมงาน"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76856"/>
            <a:ext cx="3986783" cy="438912"/>
          </a:xfrm>
          <a:prstGeom prst="rect">
            <a:avLst/>
          </a:prstGeom>
          <a:solidFill>
            <a:srgbClr val="F0FFF4"/>
          </a:solidFill>
          <a:ln w="5080">
            <a:solidFill>
              <a:srgbClr val="88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276856"/>
            <a:ext cx="54864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313432"/>
            <a:ext cx="38404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1A5C34"/>
                </a:solidFill>
                <a:latin typeface="Calibri"/>
              </a:rPr>
              <a:t>"หยุดเสาร์-อาทิตย์"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88920"/>
            <a:ext cx="3986783" cy="438912"/>
          </a:xfrm>
          <a:prstGeom prst="rect">
            <a:avLst/>
          </a:prstGeom>
          <a:solidFill>
            <a:srgbClr val="F0FFF4"/>
          </a:solidFill>
          <a:ln w="5080">
            <a:solidFill>
              <a:srgbClr val="88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788920"/>
            <a:ext cx="54864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825496"/>
            <a:ext cx="38404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1A5C34"/>
                </a:solidFill>
                <a:latin typeface="Calibri"/>
              </a:rPr>
              <a:t>"ความเป็นกันเอง ความเห็นอกเห็นใจ"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300984"/>
            <a:ext cx="3986783" cy="438912"/>
          </a:xfrm>
          <a:prstGeom prst="rect">
            <a:avLst/>
          </a:prstGeom>
          <a:solidFill>
            <a:srgbClr val="F0FFF4"/>
          </a:solidFill>
          <a:ln w="5080">
            <a:solidFill>
              <a:srgbClr val="88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300984"/>
            <a:ext cx="54864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3337560"/>
            <a:ext cx="38404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1A5C34"/>
                </a:solidFill>
                <a:latin typeface="Calibri"/>
              </a:rPr>
              <a:t>"สิ่งแวดล้อมของการทำงาน"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13048"/>
            <a:ext cx="3986783" cy="438912"/>
          </a:xfrm>
          <a:prstGeom prst="rect">
            <a:avLst/>
          </a:prstGeom>
          <a:solidFill>
            <a:srgbClr val="F0FFF4"/>
          </a:solidFill>
          <a:ln w="5080">
            <a:solidFill>
              <a:srgbClr val="88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813048"/>
            <a:ext cx="54864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3849624"/>
            <a:ext cx="38404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1A5C34"/>
                </a:solidFill>
                <a:latin typeface="Calibri"/>
              </a:rPr>
              <a:t>"เปิดโอกาสให้ลองใหม่ๆ"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325112"/>
            <a:ext cx="3986783" cy="438912"/>
          </a:xfrm>
          <a:prstGeom prst="rect">
            <a:avLst/>
          </a:prstGeom>
          <a:solidFill>
            <a:srgbClr val="F0FFF4"/>
          </a:solidFill>
          <a:ln w="5080">
            <a:solidFill>
              <a:srgbClr val="88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325112"/>
            <a:ext cx="54864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4361688"/>
            <a:ext cx="38404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1A5C34"/>
                </a:solidFill>
                <a:latin typeface="Calibri"/>
              </a:rPr>
              <a:t>"การทำงานแบบ Hybrid"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28032" y="685800"/>
            <a:ext cx="4206240" cy="4133087"/>
          </a:xfrm>
          <a:prstGeom prst="rect">
            <a:avLst/>
          </a:prstGeom>
          <a:solidFill>
            <a:srgbClr val="FFFFFF"/>
          </a:solidFill>
          <a:ln w="762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28032" y="685800"/>
            <a:ext cx="4206240" cy="4572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28032" y="685800"/>
            <a:ext cx="4206240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56048" y="731520"/>
            <a:ext cx="402335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💡 สิ่งที่ควรปรับปรุง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1252728"/>
            <a:ext cx="3986783" cy="438912"/>
          </a:xfrm>
          <a:prstGeom prst="rect">
            <a:avLst/>
          </a:prstGeom>
          <a:solidFill>
            <a:srgbClr val="FFFBF0"/>
          </a:solidFill>
          <a:ln w="5080">
            <a:solidFill>
              <a:srgbClr val="E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937760" y="1252728"/>
            <a:ext cx="54864" cy="43891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47488" y="1289304"/>
            <a:ext cx="38404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64400"/>
                </a:solidFill>
                <a:latin typeface="Calibri"/>
              </a:rPr>
              <a:t>"ค่าตอบแทนและสวัสดิการด้านซอฟต์แวร์"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1764792"/>
            <a:ext cx="3986783" cy="438912"/>
          </a:xfrm>
          <a:prstGeom prst="rect">
            <a:avLst/>
          </a:prstGeom>
          <a:solidFill>
            <a:srgbClr val="FFFBF0"/>
          </a:solidFill>
          <a:ln w="5080">
            <a:solidFill>
              <a:srgbClr val="E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937760" y="1764792"/>
            <a:ext cx="54864" cy="43891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47488" y="1801368"/>
            <a:ext cx="38404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64400"/>
                </a:solidFill>
                <a:latin typeface="Calibri"/>
              </a:rPr>
              <a:t>"กำหนดขอบเขตงานให้ชัดเจนขึ้น"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2276856"/>
            <a:ext cx="3986783" cy="438912"/>
          </a:xfrm>
          <a:prstGeom prst="rect">
            <a:avLst/>
          </a:prstGeom>
          <a:solidFill>
            <a:srgbClr val="FFFBF0"/>
          </a:solidFill>
          <a:ln w="5080">
            <a:solidFill>
              <a:srgbClr val="E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937760" y="2276856"/>
            <a:ext cx="54864" cy="43891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47488" y="2313432"/>
            <a:ext cx="38404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64400"/>
                </a:solidFill>
                <a:latin typeface="Calibri"/>
              </a:rPr>
              <a:t>"สื่อสารระหว่างทีมและลูกค้าให้ชัดเจน"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2788920"/>
            <a:ext cx="3986783" cy="438912"/>
          </a:xfrm>
          <a:prstGeom prst="rect">
            <a:avLst/>
          </a:prstGeom>
          <a:solidFill>
            <a:srgbClr val="FFFBF0"/>
          </a:solidFill>
          <a:ln w="5080">
            <a:solidFill>
              <a:srgbClr val="E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37760" y="2788920"/>
            <a:ext cx="54864" cy="43891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47488" y="2825496"/>
            <a:ext cx="38404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64400"/>
                </a:solidFill>
                <a:latin typeface="Calibri"/>
              </a:rPr>
              <a:t>"ระบบประเมินผลที่โปร่งใสและยุติธรรม"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3300984"/>
            <a:ext cx="3986783" cy="438912"/>
          </a:xfrm>
          <a:prstGeom prst="rect">
            <a:avLst/>
          </a:prstGeom>
          <a:solidFill>
            <a:srgbClr val="FFFBF0"/>
          </a:solidFill>
          <a:ln w="5080">
            <a:solidFill>
              <a:srgbClr val="E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37760" y="3300984"/>
            <a:ext cx="54864" cy="43891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47488" y="3337560"/>
            <a:ext cx="38404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64400"/>
                </a:solidFill>
                <a:latin typeface="Calibri"/>
              </a:rPr>
              <a:t>"กิจกรรมส่งเสริมสุขภาพพนักงาน"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66928"/>
          </a:xfrm>
          <a:prstGeom prst="rect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65836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8E8F8"/>
                </a:solidFill>
                <a:latin typeface="Calibri"/>
              </a:rPr>
              <a:t>🎯 ข้อเสนอแนะเชิงกลยุทธ์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AA"/>
                </a:solidFill>
                <a:latin typeface="Calibri"/>
              </a:rPr>
              <a:t>Strategic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8616"/>
            <a:ext cx="9144000" cy="214884"/>
          </a:xfrm>
          <a:prstGeom prst="rect">
            <a:avLst/>
          </a:prstGeom>
          <a:solidFill>
            <a:srgbClr val="F0F0F8"/>
          </a:solidFill>
          <a:ln w="3810">
            <a:solidFill>
              <a:srgbClr val="E0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28616"/>
            <a:ext cx="8229600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AAACC"/>
                </a:solidFill>
                <a:latin typeface="Calibri"/>
              </a:rPr>
              <a:t>Employee Engagement Survey 2026  ·  บริษัท ดูดี อินดีด คอร์ปอเรชั่น จำกัด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928616"/>
            <a:ext cx="502920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AAACC"/>
                </a:solidFill>
                <a:latin typeface="Calibr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694944"/>
            <a:ext cx="4187952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694944"/>
            <a:ext cx="64008" cy="19933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804672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8046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786384"/>
            <a:ext cx="343814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1E3A"/>
                </a:solidFill>
                <a:latin typeface="Calibri"/>
              </a:rPr>
              <a:t>💬 ยกระดับการสื่อสารองค์กร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1161288"/>
            <a:ext cx="343814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AA"/>
                </a:solidFill>
                <a:latin typeface="Calibri"/>
              </a:rPr>
              <a:t>🔴 Priority 1</a:t>
            </a:r>
          </a:p>
        </p:txBody>
      </p:sp>
      <p:sp>
        <p:nvSpPr>
          <p:cNvPr id="15" name="Block Arc 14"/>
          <p:cNvSpPr/>
          <p:nvPr/>
        </p:nvSpPr>
        <p:spPr>
          <a:xfrm>
            <a:off x="393192" y="1463040"/>
            <a:ext cx="3913632" cy="914"/>
          </a:xfrm>
          <a:prstGeom prst="blockArc">
            <a:avLst/>
          </a:prstGeom>
          <a:noFill/>
          <a:ln w="5080">
            <a:solidFill>
              <a:srgbClr val="F0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8912" y="162763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536192"/>
            <a:ext cx="36850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1E3A"/>
                </a:solidFill>
                <a:latin typeface="Calibri"/>
              </a:rPr>
              <a:t>จัด Town Hall meeting รายไตรมาส</a:t>
            </a:r>
          </a:p>
        </p:txBody>
      </p:sp>
      <p:sp>
        <p:nvSpPr>
          <p:cNvPr id="18" name="Oval 17"/>
          <p:cNvSpPr/>
          <p:nvPr/>
        </p:nvSpPr>
        <p:spPr>
          <a:xfrm>
            <a:off x="438912" y="197510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1883664"/>
            <a:ext cx="36850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1E3A"/>
                </a:solidFill>
                <a:latin typeface="Calibri"/>
              </a:rPr>
              <a:t>สร้าง Channel สื่อสารชัดเจนระหว่างแผนก</a:t>
            </a:r>
          </a:p>
        </p:txBody>
      </p:sp>
      <p:sp>
        <p:nvSpPr>
          <p:cNvPr id="20" name="Oval 19"/>
          <p:cNvSpPr/>
          <p:nvPr/>
        </p:nvSpPr>
        <p:spPr>
          <a:xfrm>
            <a:off x="438912" y="23225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2231136"/>
            <a:ext cx="36850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1E3A"/>
                </a:solidFill>
                <a:latin typeface="Calibri"/>
              </a:rPr>
              <a:t>ผู้บริหารสื่อสารวิสัยทัศน์สม่ำเสมอ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36592" y="694944"/>
            <a:ext cx="4187952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36592" y="694944"/>
            <a:ext cx="64008" cy="199339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73752" y="804672"/>
            <a:ext cx="384048" cy="384048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2" y="80467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8384" y="786384"/>
            <a:ext cx="343814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1E3A"/>
                </a:solidFill>
                <a:latin typeface="Calibri"/>
              </a:rPr>
              <a:t>💰 ทบทวนค่าตอบแทนและการประเมิน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8384" y="1161288"/>
            <a:ext cx="343814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AA"/>
                </a:solidFill>
                <a:latin typeface="Calibri"/>
              </a:rPr>
              <a:t>🔴 Priority 2</a:t>
            </a:r>
          </a:p>
        </p:txBody>
      </p:sp>
      <p:sp>
        <p:nvSpPr>
          <p:cNvPr id="28" name="Block Arc 27"/>
          <p:cNvSpPr/>
          <p:nvPr/>
        </p:nvSpPr>
        <p:spPr>
          <a:xfrm>
            <a:off x="4873752" y="1463040"/>
            <a:ext cx="3913632" cy="914"/>
          </a:xfrm>
          <a:prstGeom prst="blockArc">
            <a:avLst/>
          </a:prstGeom>
          <a:noFill/>
          <a:ln w="5080">
            <a:solidFill>
              <a:srgbClr val="F0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919472" y="1627632"/>
            <a:ext cx="109728" cy="109728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02352" y="1536192"/>
            <a:ext cx="36850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1E3A"/>
                </a:solidFill>
                <a:latin typeface="Calibri"/>
              </a:rPr>
              <a:t>ปรับปรุงระบบประเมินผลให้โปร่งใส</a:t>
            </a:r>
          </a:p>
        </p:txBody>
      </p:sp>
      <p:sp>
        <p:nvSpPr>
          <p:cNvPr id="31" name="Oval 30"/>
          <p:cNvSpPr/>
          <p:nvPr/>
        </p:nvSpPr>
        <p:spPr>
          <a:xfrm>
            <a:off x="4919472" y="1975104"/>
            <a:ext cx="109728" cy="109728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02352" y="1883664"/>
            <a:ext cx="36850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1E3A"/>
                </a:solidFill>
                <a:latin typeface="Calibri"/>
              </a:rPr>
              <a:t>ทบทวนสวัสดิการเครื่องมือและซอฟต์แวร์</a:t>
            </a:r>
          </a:p>
        </p:txBody>
      </p:sp>
      <p:sp>
        <p:nvSpPr>
          <p:cNvPr id="33" name="Oval 32"/>
          <p:cNvSpPr/>
          <p:nvPr/>
        </p:nvSpPr>
        <p:spPr>
          <a:xfrm>
            <a:off x="4919472" y="2322576"/>
            <a:ext cx="109728" cy="109728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02352" y="2231136"/>
            <a:ext cx="36850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1E3A"/>
                </a:solidFill>
                <a:latin typeface="Calibri"/>
              </a:rPr>
              <a:t>กำหนดเส้นทางค่าตอบแทนที่ชัดเจน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2798063"/>
            <a:ext cx="4187952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2798063"/>
            <a:ext cx="64008" cy="19933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3192" y="2907791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2907791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" y="2889503"/>
            <a:ext cx="343814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1E3A"/>
                </a:solidFill>
                <a:latin typeface="Calibri"/>
              </a:rPr>
              <a:t>🌱 ส่งเสริมโอกาสพัฒนาและเติบโต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" y="3264407"/>
            <a:ext cx="343814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AA"/>
                </a:solidFill>
                <a:latin typeface="Calibri"/>
              </a:rPr>
              <a:t>🟡 Priority 3</a:t>
            </a:r>
          </a:p>
        </p:txBody>
      </p:sp>
      <p:sp>
        <p:nvSpPr>
          <p:cNvPr id="41" name="Block Arc 40"/>
          <p:cNvSpPr/>
          <p:nvPr/>
        </p:nvSpPr>
        <p:spPr>
          <a:xfrm>
            <a:off x="393192" y="3566159"/>
            <a:ext cx="3913632" cy="914"/>
          </a:xfrm>
          <a:prstGeom prst="blockArc">
            <a:avLst/>
          </a:prstGeom>
          <a:noFill/>
          <a:ln w="5080">
            <a:solidFill>
              <a:srgbClr val="F0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38912" y="3730751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3639311"/>
            <a:ext cx="36850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1E3A"/>
                </a:solidFill>
                <a:latin typeface="Calibri"/>
              </a:rPr>
              <a:t>เพิ่มงบประมาณการฝึกอบรมประจำปี</a:t>
            </a:r>
          </a:p>
        </p:txBody>
      </p:sp>
      <p:sp>
        <p:nvSpPr>
          <p:cNvPr id="44" name="Oval 43"/>
          <p:cNvSpPr/>
          <p:nvPr/>
        </p:nvSpPr>
        <p:spPr>
          <a:xfrm>
            <a:off x="438912" y="4078223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3986783"/>
            <a:ext cx="36850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1E3A"/>
                </a:solidFill>
                <a:latin typeface="Calibri"/>
              </a:rPr>
              <a:t>กำหนด Career Path ที่ชัดเจน</a:t>
            </a:r>
          </a:p>
        </p:txBody>
      </p:sp>
      <p:sp>
        <p:nvSpPr>
          <p:cNvPr id="46" name="Oval 45"/>
          <p:cNvSpPr/>
          <p:nvPr/>
        </p:nvSpPr>
        <p:spPr>
          <a:xfrm>
            <a:off x="438912" y="4425695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2" y="4334255"/>
            <a:ext cx="36850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1E3A"/>
                </a:solidFill>
                <a:latin typeface="Calibri"/>
              </a:rPr>
              <a:t>สนับสนุน Individual Development Plan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36592" y="2798063"/>
            <a:ext cx="4187952" cy="1993392"/>
          </a:xfrm>
          <a:prstGeom prst="rect">
            <a:avLst/>
          </a:prstGeom>
          <a:solidFill>
            <a:srgbClr val="FFFFFF"/>
          </a:solidFill>
          <a:ln w="7620">
            <a:solidFill>
              <a:srgbClr val="E0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736592" y="2798063"/>
            <a:ext cx="64008" cy="1993392"/>
          </a:xfrm>
          <a:prstGeom prst="rect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873752" y="2907791"/>
            <a:ext cx="384048" cy="384048"/>
          </a:xfrm>
          <a:prstGeom prst="ellipse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73752" y="2907791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58384" y="2889503"/>
            <a:ext cx="343814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1E3A"/>
                </a:solidFill>
                <a:latin typeface="Calibri"/>
              </a:rPr>
              <a:t>💪 รักษาจุดแข็งและต่อยอด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58384" y="3264407"/>
            <a:ext cx="343814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66AA"/>
                </a:solidFill>
                <a:latin typeface="Calibri"/>
              </a:rPr>
              <a:t>🟢 Maintain</a:t>
            </a:r>
          </a:p>
        </p:txBody>
      </p:sp>
      <p:sp>
        <p:nvSpPr>
          <p:cNvPr id="54" name="Block Arc 53"/>
          <p:cNvSpPr/>
          <p:nvPr/>
        </p:nvSpPr>
        <p:spPr>
          <a:xfrm>
            <a:off x="4873752" y="3566159"/>
            <a:ext cx="3913632" cy="914"/>
          </a:xfrm>
          <a:prstGeom prst="blockArc">
            <a:avLst/>
          </a:prstGeom>
          <a:noFill/>
          <a:ln w="5080">
            <a:solidFill>
              <a:srgbClr val="F0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919472" y="3730751"/>
            <a:ext cx="109728" cy="109728"/>
          </a:xfrm>
          <a:prstGeom prst="ellipse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02352" y="3639311"/>
            <a:ext cx="36850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1E3A"/>
                </a:solidFill>
                <a:latin typeface="Calibri"/>
              </a:rPr>
              <a:t>สนับสนุนวัฒนธรรมทีมที่แข็งแกร่ง</a:t>
            </a:r>
          </a:p>
        </p:txBody>
      </p:sp>
      <p:sp>
        <p:nvSpPr>
          <p:cNvPr id="57" name="Oval 56"/>
          <p:cNvSpPr/>
          <p:nvPr/>
        </p:nvSpPr>
        <p:spPr>
          <a:xfrm>
            <a:off x="4919472" y="4078223"/>
            <a:ext cx="109728" cy="109728"/>
          </a:xfrm>
          <a:prstGeom prst="ellipse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02352" y="3986783"/>
            <a:ext cx="36850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1E3A"/>
                </a:solidFill>
                <a:latin typeface="Calibri"/>
              </a:rPr>
              <a:t>ส่งเสริมบทบาทหัวหน้าที่เข้มแข็ง</a:t>
            </a:r>
          </a:p>
        </p:txBody>
      </p:sp>
      <p:sp>
        <p:nvSpPr>
          <p:cNvPr id="59" name="Oval 58"/>
          <p:cNvSpPr/>
          <p:nvPr/>
        </p:nvSpPr>
        <p:spPr>
          <a:xfrm>
            <a:off x="4919472" y="4425695"/>
            <a:ext cx="109728" cy="109728"/>
          </a:xfrm>
          <a:prstGeom prst="ellipse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02352" y="4334255"/>
            <a:ext cx="368503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1E3A"/>
                </a:solidFill>
                <a:latin typeface="Calibri"/>
              </a:rPr>
              <a:t>รักษาความท้าทายในการทำงาน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2743200"/>
            <a:ext cx="3657600" cy="3657600"/>
          </a:xfrm>
          <a:prstGeom prst="ellipse">
            <a:avLst/>
          </a:prstGeom>
          <a:solidFill>
            <a:srgbClr val="1A1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217920" y="-1371600"/>
            <a:ext cx="4114800" cy="4114800"/>
          </a:xfrm>
          <a:prstGeom prst="ellipse">
            <a:avLst/>
          </a:prstGeom>
          <a:solidFill>
            <a:srgbClr val="0A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2D3EE"/>
                </a:solidFill>
                <a:latin typeface="Calibri"/>
              </a:rPr>
              <a:t>82.3%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BB"/>
                </a:solidFill>
                <a:latin typeface="Calibri"/>
              </a:rPr>
              <a:t>Overall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2004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2D3EE"/>
                </a:solidFill>
                <a:latin typeface="Calibri"/>
              </a:rPr>
              <a:t>4.11/5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98755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BB"/>
                </a:solidFill>
                <a:latin typeface="Calibri"/>
              </a:rPr>
              <a:t>Average 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2004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2D3EE"/>
                </a:solidFill>
                <a:latin typeface="Calibri"/>
              </a:rPr>
              <a:t>#1 มิติ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98755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BB"/>
                </a:solidFill>
                <a:latin typeface="Calibri"/>
              </a:rPr>
              <a:t>ลักษณะงาน 88.4%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20040"/>
            <a:ext cx="2011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2D3EE"/>
                </a:solidFill>
                <a:latin typeface="Calibri"/>
              </a:rPr>
              <a:t>10 คน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98755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BB"/>
                </a:solidFill>
                <a:latin typeface="Calibri"/>
              </a:rPr>
              <a:t>Respondents</a:t>
            </a:r>
          </a:p>
        </p:txBody>
      </p:sp>
      <p:sp>
        <p:nvSpPr>
          <p:cNvPr id="13" name="Block Arc 12"/>
          <p:cNvSpPr/>
          <p:nvPr/>
        </p:nvSpPr>
        <p:spPr>
          <a:xfrm>
            <a:off x="457200" y="1325880"/>
            <a:ext cx="8229600" cy="914"/>
          </a:xfrm>
          <a:prstGeom prst="blockArc">
            <a:avLst/>
          </a:prstGeom>
          <a:noFill/>
          <a:ln w="10160">
            <a:solidFill>
              <a:srgbClr val="2A2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A0A0CC"/>
                </a:solidFill>
                <a:latin typeface="Calibri"/>
              </a:rPr>
              <a:t>ขอบคุณทุกคนที่ร่วมตอบแบบสำรวจ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029968"/>
            <a:ext cx="8229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666AA"/>
                </a:solidFill>
                <a:latin typeface="Calibri"/>
              </a:rPr>
              <a:t>ความคิดเห็นของคุณมีคุณค่าต่อการพัฒนาองค์กร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633472"/>
            <a:ext cx="6400800" cy="1389888"/>
          </a:xfrm>
          <a:prstGeom prst="rect">
            <a:avLst/>
          </a:prstGeom>
          <a:solidFill>
            <a:srgbClr val="141428"/>
          </a:solidFill>
          <a:ln w="10160">
            <a:solidFill>
              <a:srgbClr val="2E2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2633472"/>
            <a:ext cx="6400800" cy="54864"/>
          </a:xfrm>
          <a:prstGeom prst="rect">
            <a:avLst/>
          </a:prstGeom>
          <a:solidFill>
            <a:srgbClr val="7C6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2688336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888CC"/>
                </a:solidFill>
                <a:latin typeface="Calibri"/>
              </a:rPr>
              <a:t>📋 Next Steps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8760" y="3090672"/>
            <a:ext cx="594360" cy="219456"/>
          </a:xfrm>
          <a:prstGeom prst="rect">
            <a:avLst/>
          </a:prstGeom>
          <a:solidFill>
            <a:srgbClr val="251E55"/>
          </a:solidFill>
          <a:ln w="3810">
            <a:solidFill>
              <a:srgbClr val="7C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3090672"/>
            <a:ext cx="5943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0A8EE"/>
                </a:solidFill>
                <a:latin typeface="Calibri"/>
              </a:rPr>
              <a:t>Q2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39" y="3072384"/>
            <a:ext cx="2423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090BB"/>
                </a:solidFill>
                <a:latin typeface="Calibri"/>
              </a:rPr>
              <a:t>ประชุม Action Plan กับ Executive Team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3090672"/>
            <a:ext cx="594360" cy="219456"/>
          </a:xfrm>
          <a:prstGeom prst="rect">
            <a:avLst/>
          </a:prstGeom>
          <a:solidFill>
            <a:srgbClr val="251E55"/>
          </a:solidFill>
          <a:ln w="3810">
            <a:solidFill>
              <a:srgbClr val="7C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090672"/>
            <a:ext cx="5943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0A8EE"/>
                </a:solidFill>
                <a:latin typeface="Calibri"/>
              </a:rPr>
              <a:t>Q2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072384"/>
            <a:ext cx="2423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090BB"/>
                </a:solidFill>
                <a:latin typeface="Calibri"/>
              </a:rPr>
              <a:t>เริ่มโครงการพัฒนาการสื่อสารภายใน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8760" y="3474720"/>
            <a:ext cx="594360" cy="219456"/>
          </a:xfrm>
          <a:prstGeom prst="rect">
            <a:avLst/>
          </a:prstGeom>
          <a:solidFill>
            <a:srgbClr val="251E55"/>
          </a:solidFill>
          <a:ln w="3810">
            <a:solidFill>
              <a:srgbClr val="7C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3474720"/>
            <a:ext cx="5943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0A8EE"/>
                </a:solidFill>
                <a:latin typeface="Calibri"/>
              </a:rPr>
              <a:t>Q3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39" y="3456432"/>
            <a:ext cx="2423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090BB"/>
                </a:solidFill>
                <a:latin typeface="Calibri"/>
              </a:rPr>
              <a:t>ทบทวนระบบค่าตอบแทนและประเมินผล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3474720"/>
            <a:ext cx="594360" cy="219456"/>
          </a:xfrm>
          <a:prstGeom prst="rect">
            <a:avLst/>
          </a:prstGeom>
          <a:solidFill>
            <a:srgbClr val="251E55"/>
          </a:solidFill>
          <a:ln w="3810">
            <a:solidFill>
              <a:srgbClr val="7C6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3474720"/>
            <a:ext cx="5943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0A8EE"/>
                </a:solidFill>
                <a:latin typeface="Calibri"/>
              </a:rPr>
              <a:t>Q4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456432"/>
            <a:ext cx="2423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090BB"/>
                </a:solidFill>
                <a:latin typeface="Calibri"/>
              </a:rPr>
              <a:t>สำรวจ Engagement Survey ครั้งที่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44488"/>
                </a:solidFill>
                <a:latin typeface="Calibri"/>
              </a:rPr>
              <a:t>บริษัท ดูดี อินดีด คอร์ปอเรชั่น จำกัด  ·  ฝ่ายทรัพยากรมนุษย์  ·  มีนาคม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